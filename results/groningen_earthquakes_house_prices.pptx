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0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>
          <a:solidFill>
            <a:srgbClr val="204B57"/>
          </a:solidFill>
          <a:latin typeface="Aptos Display"/>
        </a:defRPr>
      </a:lvl1pPr>
    </p:titleStyle>
    <p:bodyStyle>
      <a:lvl1pPr>
        <a:defRPr sz="1400">
          <a:solidFill>
            <a:srgbClr val="20252B"/>
          </a:solidFill>
          <a:latin typeface="Aptos"/>
        </a:defRPr>
      </a:lvl1pPr>
    </p:bodyStyle>
    <p:otherStyle>
      <a:lvl1pPr>
        <a:defRPr sz="1200">
          <a:solidFill>
            <a:srgbClr val="20252B"/>
          </a:solidFill>
          <a:latin typeface="Apto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95E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502920" y="5440680"/>
            <a:ext cx="11201400" cy="36576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5"/>
          <p:cNvSpPr txBox="1"/>
          <p:nvPr/>
        </p:nvSpPr>
        <p:spPr>
          <a:xfrm>
            <a:off x="566928" y="68580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Earthquakes and House Prices in Groningen</a:t>
            </a:r>
          </a:p>
        </p:txBody>
      </p:sp>
      <p:sp>
        <p:nvSpPr>
          <p:cNvPr id="6" name="Subtitle 6"/>
          <p:cNvSpPr txBox="1"/>
          <p:nvPr/>
        </p:nvSpPr>
        <p:spPr>
          <a:xfrm>
            <a:off x="594360" y="16916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E4A4F"/>
                </a:solidFill>
                <a:latin typeface="Aptos"/>
                <a:ea typeface="Aptos"/>
                <a:cs typeface="Aptos"/>
              </a:rPr>
              <a:t>A spatial difference-in-differences prototype using CBS house-price indices and KNMI seismic events</a:t>
            </a:r>
          </a:p>
        </p:txBody>
      </p:sp>
      <p:sp>
        <p:nvSpPr>
          <p:cNvPr id="7" name="Question 7"/>
          <p:cNvSpPr txBox="1"/>
          <p:nvPr/>
        </p:nvSpPr>
        <p:spPr>
          <a:xfrm>
            <a:off x="621792" y="2743200"/>
            <a:ext cx="3657600" cy="1417320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Causal question</a:t>
            </a:r>
          </a:p>
          <a:p>
            <a:pPr algn="l"/>
            <a:r>
              <a:rPr lang="en-US"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the effect of earthquakes on municipal house prices?</a:t>
            </a:r>
          </a:p>
        </p:txBody>
      </p:sp>
      <p:sp>
        <p:nvSpPr>
          <p:cNvPr id="8" name="Summary 8"/>
          <p:cNvSpPr txBox="1"/>
          <p:nvPr/>
        </p:nvSpPr>
        <p:spPr>
          <a:xfrm>
            <a:off x="4709160" y="2788920"/>
            <a:ext cx="630936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Compare Groningen with Friesland and Drenthe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Pre-period before 2000; post-period from 2000 onward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Continuous, distance-decayed earthquake exposure</a:t>
            </a:r>
          </a:p>
        </p:txBody>
      </p:sp>
      <p:sp>
        <p:nvSpPr>
          <p:cNvPr id="9" name="Source 9"/>
          <p:cNvSpPr txBox="1"/>
          <p:nvPr/>
        </p:nvSpPr>
        <p:spPr>
          <a:xfrm>
            <a:off x="594360" y="562356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0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Based on results/pres.odp, the DOCX case brief, src/ data engineering, notebooks/, and results/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Contents</a:t>
            </a:r>
          </a:p>
        </p:txBody>
      </p:sp>
      <p:sp>
        <p:nvSpPr>
          <p:cNvPr id="4" name="Agenda Left 4"/>
          <p:cNvSpPr txBox="1"/>
          <p:nvPr/>
        </p:nvSpPr>
        <p:spPr>
          <a:xfrm>
            <a:off x="731520" y="114300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1. Problem formulation</a:t>
            </a:r>
          </a:p>
          <a:p>
            <a:pPr algn="l"/>
            <a:r>
              <a:rPr lang="en-US" sz="18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2. Data and engineering</a:t>
            </a:r>
          </a:p>
          <a:p>
            <a:pPr algn="l"/>
            <a:r>
              <a:rPr lang="en-US" sz="18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3. Exploratory evidence</a:t>
            </a:r>
          </a:p>
          <a:p>
            <a:pPr algn="l"/>
            <a:r>
              <a:rPr lang="en-US" sz="18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4. Experimental design</a:t>
            </a:r>
          </a:p>
          <a:p>
            <a:pPr algn="l"/>
            <a:r>
              <a:rPr lang="en-US" sz="18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5. DAG and identifying assumptions</a:t>
            </a:r>
          </a:p>
        </p:txBody>
      </p:sp>
      <p:sp>
        <p:nvSpPr>
          <p:cNvPr id="5" name="Agenda Right 5"/>
          <p:cNvSpPr txBox="1"/>
          <p:nvPr/>
        </p:nvSpPr>
        <p:spPr>
          <a:xfrm>
            <a:off x="6217920" y="1143000"/>
            <a:ext cx="502920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6. Spatial DiD exposure</a:t>
            </a:r>
          </a:p>
          <a:p>
            <a:pPr algn="l"/>
            <a:r>
              <a:rPr lang="en-US" sz="18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7. Model specification</a:t>
            </a:r>
          </a:p>
          <a:p>
            <a:pPr algn="l"/>
            <a:r>
              <a:rPr lang="en-US" sz="18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8. Parallel trends and event study</a:t>
            </a:r>
          </a:p>
          <a:p>
            <a:pPr algn="l"/>
            <a:r>
              <a:rPr lang="en-US" sz="18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9. Results and conclusion</a:t>
            </a:r>
          </a:p>
        </p:txBody>
      </p:sp>
      <p:sp>
        <p:nvSpPr>
          <p:cNvPr id="6" name="Footer 6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95E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Problem Formulation</a:t>
            </a:r>
          </a:p>
        </p:txBody>
      </p:sp>
      <p:sp>
        <p:nvSpPr>
          <p:cNvPr id="4" name="Problem Text 4"/>
          <p:cNvSpPr txBox="1"/>
          <p:nvPr/>
        </p:nvSpPr>
        <p:spPr>
          <a:xfrm>
            <a:off x="594360" y="1051560"/>
            <a:ext cx="5577840" cy="4434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The case starts from a practical concern: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Gas extraction has caused induced earthquakes in Groningen.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Earthquakes raise worries about safety, physical damage, and lower home values.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The target estimand is causal: not just whether earthquakes and prices move together, but whether seismic exposure changes prices.</a:t>
            </a:r>
          </a:p>
        </p:txBody>
      </p:sp>
      <p:sp>
        <p:nvSpPr>
          <p:cNvPr id="5" name="Research Question 5"/>
          <p:cNvSpPr txBox="1"/>
          <p:nvPr/>
        </p:nvSpPr>
        <p:spPr>
          <a:xfrm>
            <a:off x="6537960" y="1325880"/>
            <a:ext cx="4800600" cy="1920240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question</a:t>
            </a:r>
          </a:p>
          <a:p>
            <a:pPr algn="l"/>
            <a:r>
              <a:rPr lang="en-US" sz="1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Wat is het causale effect van aardbevingen op de woningprijzen?</a:t>
            </a:r>
          </a:p>
        </p:txBody>
      </p:sp>
      <p:sp>
        <p:nvSpPr>
          <p:cNvPr id="6" name="Comparison 6"/>
          <p:cNvSpPr txBox="1"/>
          <p:nvPr/>
        </p:nvSpPr>
        <p:spPr>
          <a:xfrm>
            <a:off x="6537960" y="3657600"/>
            <a:ext cx="48006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Proposed comparison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Municipalities in Groningen with seismic activity versus similar municipalities in Friesland and Drenthe without that exposure.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Data And Engineering</a:t>
            </a:r>
          </a:p>
        </p:txBody>
      </p:sp>
      <p:sp>
        <p:nvSpPr>
          <p:cNvPr id="4" name="Inputs 4"/>
          <p:cNvSpPr txBox="1"/>
          <p:nvPr/>
        </p:nvSpPr>
        <p:spPr>
          <a:xfrm>
            <a:off x="594360" y="1005840"/>
            <a:ext cx="3657600" cy="4846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Input data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CBS PBK house-price index by municipality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CBS municipality and province boundaries, 1995-2025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KNMI FDSN earthquake API, 1995-2025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Processed outputs written to Parquet</a:t>
            </a:r>
          </a:p>
        </p:txBody>
      </p:sp>
      <p:sp>
        <p:nvSpPr>
          <p:cNvPr id="5" name="Pipeline 5"/>
          <p:cNvSpPr txBox="1"/>
          <p:nvPr/>
        </p:nvSpPr>
        <p:spPr>
          <a:xfrm>
            <a:off x="4434840" y="1005840"/>
            <a:ext cx="3749040" cy="4846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Engineering steps in src/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Parse year and quarter into dates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Harmonize municipality and province geometries by year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Spatially join municipalities to provinces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Clean KNMI events and remove preliminary/explosion/other events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Save geospatial panels for analysis</a:t>
            </a:r>
          </a:p>
        </p:txBody>
      </p:sp>
      <p:sp>
        <p:nvSpPr>
          <p:cNvPr id="6" name="Why 6"/>
          <p:cNvSpPr txBox="1"/>
          <p:nvPr/>
        </p:nvSpPr>
        <p:spPr>
          <a:xfrm>
            <a:off x="8458200" y="1005840"/>
            <a:ext cx="3154680" cy="4846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Why it matters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Municipal boundaries change over time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Earthquake effects depend on location, magnitude, and depth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The analysis needs a municipality-quarter panel with consistent geography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F7D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Exploratory Evidence</a:t>
            </a:r>
          </a:p>
        </p:txBody>
      </p:sp>
      <p:pic>
        <p:nvPicPr>
          <p:cNvPr id="4" name="Seismic Events 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4297680" cy="5184648"/>
          </a:xfrm>
          <a:prstGeom prst="rect">
            <a:avLst/>
          </a:prstGeom>
          <a:ln w="12700">
            <a:solidFill>
              <a:srgbClr val="D6DEE1"/>
            </a:solidFill>
          </a:ln>
        </p:spPr>
      </p:pic>
      <p:pic>
        <p:nvPicPr>
          <p:cNvPr id="5" name="Price Index Hist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143000"/>
            <a:ext cx="6217920" cy="4096512"/>
          </a:xfrm>
          <a:prstGeom prst="rect">
            <a:avLst/>
          </a:prstGeom>
          <a:ln w="12700">
            <a:solidFill>
              <a:srgbClr val="D6DEE1"/>
            </a:solidFill>
          </a:ln>
        </p:spPr>
      </p:pic>
      <p:sp>
        <p:nvSpPr>
          <p:cNvPr id="6" name="Caption 6"/>
          <p:cNvSpPr txBox="1"/>
          <p:nvPr/>
        </p:nvSpPr>
        <p:spPr>
          <a:xfrm>
            <a:off x="5193792" y="5440680"/>
            <a:ext cx="61722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050" dirty="0">
                <a:solidFill>
                  <a:srgbClr val="3E4A4F"/>
                </a:solidFill>
                <a:latin typeface="Aptos"/>
                <a:ea typeface="Aptos"/>
                <a:cs typeface="Aptos"/>
              </a:rPr>
              <a:t>The map shows a dense cluster of induced/triggered events around Groningen; the histogram confirms broad variation in the municipal price index over the full panel.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Experimental Design Choices</a:t>
            </a:r>
          </a:p>
        </p:txBody>
      </p:sp>
      <p:sp>
        <p:nvSpPr>
          <p:cNvPr id="4" name="Chosen 4"/>
          <p:cNvSpPr txBox="1"/>
          <p:nvPr/>
        </p:nvSpPr>
        <p:spPr>
          <a:xfrm>
            <a:off x="594360" y="1051560"/>
            <a:ext cx="5212080" cy="4846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Chosen design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Spatial DiD on municipality-quarter data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Groningen, Friesland, and Drenthe define the analysis region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Post period starts in 2000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Exposure is continuous, not binary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Exposure is non-cumulative within each quarter</a:t>
            </a:r>
          </a:p>
        </p:txBody>
      </p:sp>
      <p:sp>
        <p:nvSpPr>
          <p:cNvPr id="5" name="Alternatives 5"/>
          <p:cNvSpPr txBox="1"/>
          <p:nvPr/>
        </p:nvSpPr>
        <p:spPr>
          <a:xfrm>
            <a:off x="6309360" y="1051560"/>
            <a:ext cx="5166360" cy="4846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Alternatives considered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Binary treatment: Groningen after 2000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Single-event design around Huizinge 2012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Staggered treatment / sunab()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Lagged or cumulative exposure</a:t>
            </a:r>
          </a:p>
          <a:p>
            <a:pPr algn="l"/>
            <a:r>
              <a:rPr lang="en-US" sz="15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RDD or IV designs if a credible threshold/instrument is available</a:t>
            </a:r>
          </a:p>
        </p:txBody>
      </p:sp>
      <p:sp>
        <p:nvSpPr>
          <p:cNvPr id="6" name="Footer 6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95E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DAG And Assumptions</a:t>
            </a:r>
          </a:p>
        </p:txBody>
      </p:sp>
      <p:sp>
        <p:nvSpPr>
          <p:cNvPr id="4" name="DAG Text 4"/>
          <p:cNvSpPr txBox="1"/>
          <p:nvPr/>
        </p:nvSpPr>
        <p:spPr>
          <a:xfrm>
            <a:off x="777240" y="1143000"/>
            <a:ext cx="530352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550" dirty="0">
                <a:solidFill>
                  <a:srgbClr val="20252B"/>
                </a:solidFill>
                <a:latin typeface="Cascadia Mono"/>
                <a:ea typeface="Cascadia Mono"/>
                <a:cs typeface="Cascadia Mono"/>
              </a:rPr>
              <a:t>Simple causal story</a:t>
            </a:r>
          </a:p>
          <a:p>
            <a:pPr algn="l"/>
            <a:r>
              <a:rPr lang="en-US" sz="1550" dirty="0">
                <a:solidFill>
                  <a:srgbClr val="20252B"/>
                </a:solidFill>
                <a:latin typeface="Cascadia Mono"/>
                <a:ea typeface="Cascadia Mono"/>
                <a:cs typeface="Cascadia Mono"/>
              </a:rPr>
              <a:t>Seismic activity -&gt; damage/risk perception -&gt; house prices</a:t>
            </a:r>
          </a:p>
          <a:p>
            <a:endParaRPr lang="en-US" sz="1550" dirty="0">
              <a:solidFill>
                <a:srgbClr val="20252B"/>
              </a:solidFill>
              <a:latin typeface="Cascadia Mono"/>
              <a:ea typeface="Cascadia Mono"/>
              <a:cs typeface="Cascadia Mono"/>
            </a:endParaRPr>
          </a:p>
          <a:p>
            <a:pPr algn="l"/>
            <a:r>
              <a:rPr lang="en-US" sz="1550" dirty="0">
                <a:solidFill>
                  <a:srgbClr val="20252B"/>
                </a:solidFill>
                <a:latin typeface="Cascadia Mono"/>
                <a:ea typeface="Cascadia Mono"/>
                <a:cs typeface="Cascadia Mono"/>
              </a:rPr>
              <a:t>Location characteristics -&gt; seismic exposure</a:t>
            </a:r>
          </a:p>
          <a:p>
            <a:pPr algn="l"/>
            <a:r>
              <a:rPr lang="en-US" sz="1550" dirty="0">
                <a:solidFill>
                  <a:srgbClr val="20252B"/>
                </a:solidFill>
                <a:latin typeface="Cascadia Mono"/>
                <a:ea typeface="Cascadia Mono"/>
                <a:cs typeface="Cascadia Mono"/>
              </a:rPr>
              <a:t>Location characteristics -&gt; house prices</a:t>
            </a:r>
          </a:p>
          <a:p>
            <a:endParaRPr lang="en-US" sz="1550" dirty="0">
              <a:solidFill>
                <a:srgbClr val="20252B"/>
              </a:solidFill>
              <a:latin typeface="Cascadia Mono"/>
              <a:ea typeface="Cascadia Mono"/>
              <a:cs typeface="Cascadia Mono"/>
            </a:endParaRPr>
          </a:p>
          <a:p>
            <a:pPr algn="l"/>
            <a:r>
              <a:rPr lang="en-US" sz="1550" dirty="0">
                <a:solidFill>
                  <a:srgbClr val="20252B"/>
                </a:solidFill>
                <a:latin typeface="Cascadia Mono"/>
                <a:ea typeface="Cascadia Mono"/>
                <a:cs typeface="Cascadia Mono"/>
              </a:rPr>
              <a:t>Time shocks -&gt; house prices</a:t>
            </a:r>
          </a:p>
        </p:txBody>
      </p:sp>
      <p:sp>
        <p:nvSpPr>
          <p:cNvPr id="5" name="Assumptions 5"/>
          <p:cNvSpPr txBox="1"/>
          <p:nvPr/>
        </p:nvSpPr>
        <p:spPr>
          <a:xfrm>
            <a:off x="6400800" y="1097280"/>
            <a:ext cx="4983480" cy="4526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Key assumptions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Conditional on municipality and quarter fixed effects, remaining exposure timing/intensity is as-good-as comparable.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Friesland and Drenthe provide a useful regional counterfactual for Groningen.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Parallel trends are plausible before the post-period.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No major omitted local shocks are perfectly aligned with earthquake exposure.</a:t>
            </a:r>
          </a:p>
        </p:txBody>
      </p:sp>
      <p:sp>
        <p:nvSpPr>
          <p:cNvPr id="6" name="Footer 6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Spatial Exposure Construction</a:t>
            </a:r>
          </a:p>
        </p:txBody>
      </p:sp>
      <p:sp>
        <p:nvSpPr>
          <p:cNvPr id="4" name="Distance 4"/>
          <p:cNvSpPr txBox="1"/>
          <p:nvPr/>
        </p:nvSpPr>
        <p:spPr>
          <a:xfrm>
            <a:off x="594360" y="1005840"/>
            <a:ext cx="5486400" cy="160043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Distance matrix</a:t>
            </a:r>
          </a:p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Use municipality boundaries (from CBS) rather than centroids.</a:t>
            </a:r>
          </a:p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Transform events and municipalities to ensure same projection</a:t>
            </a:r>
          </a:p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Compute distance from each municipality boundary to each earthquake (from KNMI API).</a:t>
            </a:r>
          </a:p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Keep exposure quarter-specific, so earthquakes only affect the quarter in which they occur.</a:t>
            </a:r>
          </a:p>
        </p:txBody>
      </p:sp>
      <p:sp>
        <p:nvSpPr>
          <p:cNvPr id="5" name="Formula 5"/>
          <p:cNvSpPr txBox="1"/>
          <p:nvPr/>
        </p:nvSpPr>
        <p:spPr>
          <a:xfrm>
            <a:off x="6400800" y="1143000"/>
            <a:ext cx="4983480" cy="1600200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280" b="1" dirty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Exposure formula</a:t>
            </a:r>
          </a:p>
          <a:p>
            <a:pPr algn="l"/>
            <a:r>
              <a:rPr lang="en-US" sz="1280" b="1" dirty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exposure_it = sum_e in t [10^(1.5 * M_e) / (1 + depth_e)] * exp(-lambda * distance_ie)</a:t>
            </a:r>
          </a:p>
        </p:txBody>
      </p:sp>
      <p:sp>
        <p:nvSpPr>
          <p:cNvPr id="6" name="Interpretation 6"/>
          <p:cNvSpPr txBox="1"/>
          <p:nvPr/>
        </p:nvSpPr>
        <p:spPr>
          <a:xfrm>
            <a:off x="6400800" y="3108960"/>
            <a:ext cx="498348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Interpretation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Larger magnitudes get higher weight.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Deeper events get lower weight.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More distant events decay exponentially.</a:t>
            </a:r>
          </a:p>
          <a:p>
            <a:pPr algn="l"/>
            <a:r>
              <a:rPr lang="en-US" sz="13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This turns many point events into a continuous municipal treatment intensity.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Main Spatial DiD Model</a:t>
            </a:r>
          </a:p>
        </p:txBody>
      </p:sp>
      <p:pic>
        <p:nvPicPr>
          <p:cNvPr id="4" name="Main Model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24128"/>
            <a:ext cx="5074920" cy="1773936"/>
          </a:xfrm>
          <a:prstGeom prst="rect">
            <a:avLst/>
          </a:prstGeom>
          <a:ln w="12700">
            <a:solidFill>
              <a:srgbClr val="D6DEE1"/>
            </a:solidFill>
          </a:ln>
        </p:spPr>
      </p:pic>
      <p:pic>
        <p:nvPicPr>
          <p:cNvPr id="5" name="Main Model 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63240"/>
            <a:ext cx="6172200" cy="1618488"/>
          </a:xfrm>
          <a:prstGeom prst="rect">
            <a:avLst/>
          </a:prstGeom>
          <a:ln w="12700">
            <a:solidFill>
              <a:srgbClr val="D6DEE1"/>
            </a:solidFill>
          </a:ln>
        </p:spPr>
      </p:pic>
      <p:sp>
        <p:nvSpPr>
          <p:cNvPr id="6" name="Result Text 6"/>
          <p:cNvSpPr txBox="1"/>
          <p:nvPr/>
        </p:nvSpPr>
        <p:spPr>
          <a:xfrm>
            <a:off x="7086600" y="1051560"/>
            <a:ext cx="43891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Result</a:t>
            </a:r>
          </a:p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Coefficient on exposure x post: -0.000184</a:t>
            </a:r>
          </a:p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Clustered p-value: 0.162</a:t>
            </a:r>
          </a:p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- 3,214 observations, 34 municipalities, 123 quarters</a:t>
            </a:r>
          </a:p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Municipality and quarter fixed effects absorb time-invariant risk differences.</a:t>
            </a:r>
          </a:p>
          <a:p>
            <a:pPr algn="l"/>
            <a:r>
              <a:rPr lang="en-US" sz="140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perceived_risk is removed as collinear with municipality fixed effects.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F7D4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Event Study And Parallel Trends</a:t>
            </a:r>
          </a:p>
        </p:txBody>
      </p:sp>
      <p:pic>
        <p:nvPicPr>
          <p:cNvPr id="4" name="Event Study 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5394960" cy="4992624"/>
          </a:xfrm>
          <a:prstGeom prst="rect">
            <a:avLst/>
          </a:prstGeom>
          <a:ln w="12700">
            <a:solidFill>
              <a:srgbClr val="D6DEE1"/>
            </a:solidFill>
          </a:ln>
        </p:spPr>
      </p:pic>
      <p:pic>
        <p:nvPicPr>
          <p:cNvPr id="5" name="Event Model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2697480" cy="3108960"/>
          </a:xfrm>
          <a:prstGeom prst="rect">
            <a:avLst/>
          </a:prstGeom>
          <a:ln w="12700">
            <a:solidFill>
              <a:srgbClr val="D6DEE1"/>
            </a:solidFill>
          </a:ln>
        </p:spPr>
      </p:pic>
      <p:pic>
        <p:nvPicPr>
          <p:cNvPr id="6" name="Event Model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051560"/>
            <a:ext cx="2240280" cy="4407408"/>
          </a:xfrm>
          <a:prstGeom prst="rect">
            <a:avLst/>
          </a:prstGeom>
          <a:ln w="12700">
            <a:solidFill>
              <a:srgbClr val="D6DEE1"/>
            </a:solidFill>
          </a:ln>
        </p:spPr>
      </p:pic>
      <p:sp>
        <p:nvSpPr>
          <p:cNvPr id="7" name="Caption 7"/>
          <p:cNvSpPr txBox="1"/>
          <p:nvPr/>
        </p:nvSpPr>
        <p:spPr>
          <a:xfrm>
            <a:off x="6309360" y="4434840"/>
            <a:ext cx="26974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950" dirty="0">
                <a:solidFill>
                  <a:srgbClr val="3E4A4F"/>
                </a:solidFill>
                <a:latin typeface="Aptos"/>
                <a:ea typeface="Aptos"/>
                <a:cs typeface="Aptos"/>
              </a:rPr>
              <a:t>Pre-period estimates are close to zero, which is supportive for the parallel-trends diagnostic, though the dynamic pattern remains noisy.</a:t>
            </a:r>
          </a:p>
        </p:txBody>
      </p:sp>
      <p:sp>
        <p:nvSpPr>
          <p:cNvPr id="8" name="Footer 8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04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Can Say 4"/>
          <p:cNvSpPr txBox="1"/>
          <p:nvPr/>
        </p:nvSpPr>
        <p:spPr>
          <a:xfrm>
            <a:off x="685800" y="1051560"/>
            <a:ext cx="5394960" cy="4434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What we can say</a:t>
            </a:r>
          </a:p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The current specification does not give strong evidence of a robust negative average price effect.</a:t>
            </a:r>
          </a:p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The baseline estimate is negative but not statistically significant.</a:t>
            </a:r>
          </a:p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The event study is mostly centered near zero before treatment, with noisy post-period dynamics.</a:t>
            </a:r>
          </a:p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The design is a useful prototype, not a final causal claim.</a:t>
            </a:r>
          </a:p>
        </p:txBody>
      </p:sp>
      <p:sp>
        <p:nvSpPr>
          <p:cNvPr id="5" name="Next 5"/>
          <p:cNvSpPr txBox="1"/>
          <p:nvPr/>
        </p:nvSpPr>
        <p:spPr>
          <a:xfrm>
            <a:off x="6446520" y="1051560"/>
            <a:ext cx="4846320" cy="4434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What to improve next</a:t>
            </a:r>
          </a:p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Test cumulative and lagged exposure.</a:t>
            </a:r>
          </a:p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Separate physical damage from risk perception.</a:t>
            </a:r>
          </a:p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Add municipality-specific trends or matching.</a:t>
            </a:r>
          </a:p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Consider a Huizinge 2012 event-study specification.</a:t>
            </a:r>
          </a:p>
          <a:p>
            <a:pPr algn="l"/>
            <a:r>
              <a:rPr lang="en-US" sz="1450" dirty="0">
                <a:solidFill>
                  <a:srgbClr val="20252B"/>
                </a:solidFill>
                <a:latin typeface="Aptos"/>
                <a:ea typeface="Aptos"/>
                <a:cs typeface="Aptos"/>
              </a:rPr>
              <a:t>- Use transaction-level or WOZ data if available.</a:t>
            </a:r>
          </a:p>
        </p:txBody>
      </p:sp>
      <p:sp>
        <p:nvSpPr>
          <p:cNvPr id="6" name="Bottom Line 6"/>
          <p:cNvSpPr txBox="1"/>
          <p:nvPr/>
        </p:nvSpPr>
        <p:spPr>
          <a:xfrm>
            <a:off x="777240" y="580644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250" b="1" dirty="0">
                <a:solidFill>
                  <a:srgbClr val="204B57"/>
                </a:solidFill>
                <a:latin typeface="Aptos"/>
                <a:ea typeface="Aptos"/>
                <a:cs typeface="Aptos"/>
              </a:rPr>
              <a:t>Bottom line: the pipeline is in place; the present evidence is cautious and inconclusive, which is exactly where a causal prototype should be honest.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75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CBS PBK municipality price index + KNMI seismic events | Spatial DiD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ningen Analysis">
  <a:themeElements>
    <a:clrScheme name="Groningen">
      <a:dk1>
        <a:srgbClr val="20252B"/>
      </a:dk1>
      <a:lt1>
        <a:srgbClr val="F8FAF7"/>
      </a:lt1>
      <a:dk2>
        <a:srgbClr val="204B57"/>
      </a:dk2>
      <a:lt2>
        <a:srgbClr val="EEF2F0"/>
      </a:lt2>
      <a:accent1>
        <a:srgbClr val="204B57"/>
      </a:accent1>
      <a:accent2>
        <a:srgbClr val="C95E4A"/>
      </a:accent2>
      <a:accent3>
        <a:srgbClr val="6F7D41"/>
      </a:accent3>
      <a:accent4>
        <a:srgbClr val="8A6D3B"/>
      </a:accent4>
      <a:accent5>
        <a:srgbClr val="5F6C7B"/>
      </a:accent5>
      <a:accent6>
        <a:srgbClr val="D9B44A"/>
      </a:accent6>
      <a:hlink>
        <a:srgbClr val="204B57"/>
      </a:hlink>
      <a:folHlink>
        <a:srgbClr val="6F7D41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Groning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989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Cascadia Mono</vt:lpstr>
      <vt:lpstr>Groningen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Earthquakes and House Prices in Groningen</dc:title>
  <dc:creator>Codex</dc:creator>
  <cp:lastModifiedBy>Altan, Tayyip</cp:lastModifiedBy>
  <cp:revision>2</cp:revision>
  <dcterms:created xsi:type="dcterms:W3CDTF">2026-06-19T12:16:29Z</dcterms:created>
  <dcterms:modified xsi:type="dcterms:W3CDTF">2026-06-19T12:24:27Z</dcterms:modified>
</cp:coreProperties>
</file>